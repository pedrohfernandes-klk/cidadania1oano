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9f54a28-9fa4-3f35-fcbf-0efde45623c0}">
          <p14:sldIdLst>
            <p14:sldId id="256"/>
            <p14:sldId id="257"/>
          </p14:sldIdLst>
        </p14:section>
        <p14:section name="A caverna" id="{02fe80e9-df5b-1f23-a966-83ac9b57c965}">
          <p14:sldIdLst>
            <p14:sldId id="258"/>
            <p14:sldId id="259"/>
            <p14:sldId id="260"/>
            <p14:sldId id="261"/>
          </p14:sldIdLst>
        </p14:section>
        <p14:section name="CHIROPTERA" id="{2c1421ca-d961-4dd3-c30a-3edf6b1a1f89}">
          <p14:sldIdLst>
            <p14:sldId id="262"/>
            <p14:sldId id="263"/>
          </p14:sldIdLst>
        </p14:section>
        <p14:section name="This is Water" id="{ad4686e6-abde-e809-f517-2045efbadcff}">
          <p14:sldIdLst>
            <p14:sldId id="264"/>
            <p14:sldId id="265"/>
            <p14:sldId id="266"/>
          </p14:sldIdLst>
        </p14:section>
        <p14:section name="Fecho" id="{6a0e9f8b-52f9-b873-1d1c-69b8e31e53a8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 min. Fio da aula: três imagens de pessoas que não veem aquilo em que vivem (prisioneiros numa caverna, uma gruta pintada numa ópera, peixes que não sabem o que é a água). No fim, cada aluno nomeia a sua «água» e uma informação que aceitou sem verificar.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0–5 min. Escrita individual, sem conversa. Recolher três ou quatro exemplos em voz alta (que a Terra é redonda, que o avô nasceu numa certa aldeia, uma notícia). Perguntar a um aluno: «Como sabes?» Guardar duas respostas no quadro; voltam na saída.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5–12 min. Ler em voz alta, devagar. Antes de explicar, perguntar: «O que é que estes homens veem?» Deixar a turma chegar sozinha às sombras. Tradução portuguesa de referência: Maria Helena da Rocha Pereira (Fundação Calouste Gulbenkian). O texto é um diálogo entre Sócrates e Glauco.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12–17 min. Desenhar este esquema no quadro enquanto se explica (ou mostrar este diapositivo). Atrás dos prisioneiros há um muro; por trás dele passam pessoas que transportam objetos; um fogo projeta as sombras desses objetos na parede. Os prisioneiros dão nomes às sombras e julgam que são as próprias coisas. Pergunta: «Se sempre só viste sombras, como saberias que são sombras?»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17–22 min. Insistir no 2.º e no 4.º momentos: conhecer custa (a luz dói) e quem volta com outra versão é ridicularizado. Pedir exemplos atuais de «voltar à caverna»: contar à família que uma notícia era falsa, corrigir um amigo num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22–32 min. Pares: escolher uma das quatro paredes e dar um exemplo real (sem nomes de pessoas). Este é o fio do módulo: a segunda metade é sobre investigar e verificar. A pergunta de saída da aula volta a isto.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32–40 min. Mostrar imagens e um excerto do vídeo da performance (ligações no último diapositivo; o documentário «Dans la lumière», de Vincent Lorca, tem cerca de 30 minutos: escolher 3 a 4). Ouvir 1 a 2 minutos da música de olhos fechados antes de mostrar a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40–50 min. Ninguém sabe a intenção dos autores ao certo: aceitar leituras justificadas. O «eco» pode ser: perguntar a uma segunda fonte, falar com quem viveu a situação, medir, testar. É a ponte para a investigação do projeto «Pergunta Humana». Corte possível aqui se a aula tiver 50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50–55 min. Ler em português; se a turma acompanhar, ouvir o início do discurso original (ligação no fim). Perguntar só: «O que é a água?» Não explicar ainda.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55–65 min. O discurso usa o exemplo da fila do supermercado ao fim do dia: podemos ver os outros como obstáculos ou imaginar a vida deles. Ligar ao artigo 1.º da Declaração Universal dos Direitos Humanos: «dotados de razão e de consciência». Consciência, aqui, é dar conta da água.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65–85 min. Grupos de 3–4: 8 minutos para preparar a imagem fixa, depois apresentações. É uma turma de Interpretação: o corpo é a forma de resposta. A turma tem de dizer qual é a caverna ou a água e porquê.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85–100 min. Escrita individual no diário de investigação (conta para os 20% do diário). Voltar às duas certezas escritas no quadro no início: como as poderíamos verificar? Próxima aula: Sísifo e Marina Abramović.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como menu para o diário ou para escolher o tema do projeto. A ligação mais forte é o Ai Weiwei: a Citizens' Investigation é exatamente o que o módulo pede, uma investigação feita por cidadãos quando a informação oficial falta. Remembering repete o gesto da gruta do JR: usar a fachada de um edifício para obrigar a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ligações abrem a partir do modo de apresentação. Verificar antes da aula se o vídeo do documentário está disponível em Portugal.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ligações abrem a partir do modo de apresentação. Verificar antes da aula se o vídeo do documentário está disponível em Portugal.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CIDADANIA I · AULA 1 · O QUE VEMOS · INTP26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CIDADANIA I · AULA 1 · O QUE VEMOS · INTP26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pt.wikipedia.org/wiki/Alegoria_da_caverna" TargetMode="External"/><Relationship Id="rId2" Type="http://schemas.openxmlformats.org/officeDocument/2006/relationships/hyperlink" Target="https://jr-art.net/projects/chiroptera" TargetMode="External"/><Relationship Id="rId3" Type="http://schemas.openxmlformats.org/officeDocument/2006/relationships/hyperlink" Target="https://ra.co/news/81822" TargetMode="External"/><Relationship Id="rId4" Type="http://schemas.openxmlformats.org/officeDocument/2006/relationships/hyperlink" Target="https://musictech.com/news/music/thomas-bangalter-new-track-chiroptera/" TargetMode="External"/><Relationship Id="rId5" Type="http://schemas.openxmlformats.org/officeDocument/2006/relationships/hyperlink" Target="https://fs.blog/david-foster-wallace-this-is-water/" TargetMode="External"/><Relationship Id="rId6" Type="http://schemas.openxmlformats.org/officeDocument/2006/relationships/hyperlink" Target="https://en.wikipedia.org/wiki/This_Is_Water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ritannica.com/topic/Remembering-art-installation-by-Ai-Weiwei" TargetMode="External"/><Relationship Id="rId2" Type="http://schemas.openxmlformats.org/officeDocument/2006/relationships/hyperlink" Target="https://www.npr.org/2009/05/04/103727282/chinese-seek-answers-in-student-quake-deaths" TargetMode="External"/><Relationship Id="rId3" Type="http://schemas.openxmlformats.org/officeDocument/2006/relationships/hyperlink" Target="https://lissongallery.com/news/rapture-a-major-exhibition-by-ai-weiwei-opens-at-cordoaria-nacional-in-lisbon" TargetMode="External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CIDADANIA I · SER-SE HUMANO: INVESTIGAÇÃO E INFORMAÇÃO · AULA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VEMOS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29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Platão · JR, Damien Jalet e Thomas Bangalter · David Foster Wallace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33502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MESA · 3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COMO SABES QUE O QUE VÊS É VERDADE?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uma coisa que tens a certeza de que é verdade e que nunca viste com os teus olhos.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675120" y="2011680"/>
            <a:ext cx="1737360" cy="17373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20116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3:00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8138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2801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78992"/>
            <a:ext cx="7726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Suponhamos uns homens numa habitação subterrânea em forma de caverna, com uma entrada aberta para a luz. Estão lá dentro desde a infância, algemados de pernas e pescoços, de tal maneira que só lhes é dado permanecer no mesmo lugar e olhar em frente.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b="1" spc="10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PLATÃO, A REPÚBLICA, LIVRO VII (C. 375 A.C.)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16128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ALEGORIA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DENTRO DA CAVERNA</a:t>
            </a:r>
            <a:endParaRPr lang="en-US" sz="2600" dirty="0"/>
          </a:p>
        </p:txBody>
      </p:sp>
      <p:sp>
        <p:nvSpPr>
          <p:cNvPr id="5" name="parede"/>
          <p:cNvSpPr/>
          <p:nvPr/>
        </p:nvSpPr>
        <p:spPr>
          <a:xfrm>
            <a:off x="548640" y="1417320"/>
            <a:ext cx="201168" cy="2560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600200"/>
            <a:ext cx="502920" cy="640080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331720"/>
            <a:ext cx="502920" cy="640080"/>
          </a:xfrm>
          <a:prstGeom prst="ellipse">
            <a:avLst/>
          </a:prstGeom>
          <a:solidFill>
            <a:srgbClr val="BFBFBF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324612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0" y="324612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34640" y="3246120"/>
            <a:ext cx="384048" cy="384048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3429000"/>
            <a:ext cx="1554480" cy="320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3017520"/>
            <a:ext cx="365760" cy="384048"/>
          </a:xfrm>
          <a:prstGeom prst="triangl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3063240"/>
            <a:ext cx="329184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2926080"/>
            <a:ext cx="548640" cy="731520"/>
          </a:xfrm>
          <a:prstGeom prst="ellipse">
            <a:avLst/>
          </a:prstGeom>
          <a:solidFill>
            <a:srgbClr val="2F6F7A"/>
          </a:solidFill>
          <a:ln w="12700">
            <a:solidFill>
              <a:srgbClr val="2F6F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417320"/>
            <a:ext cx="1737360" cy="2560320"/>
          </a:xfrm>
          <a:prstGeom prst="rect">
            <a:avLst/>
          </a:prstGeom>
          <a:solidFill>
            <a:srgbClr val="EDEFE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697480"/>
            <a:ext cx="50292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3977640"/>
            <a:ext cx="813816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1097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SOMBRAS NA PAREDE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PRISIONEIROS · só veem a parede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65760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MURO E OBJETOS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0" y="40690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FOGO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55448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luz do sol: as coisas como são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16128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ALEGORIA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QUATRO MOMENTOS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05840" y="1828800"/>
            <a:ext cx="14630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457200" y="22402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SOMBRAS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Toma-se a sombra pela coisa. Tudo parece claro.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600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603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108960" y="1828800"/>
            <a:ext cx="14630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560320" y="22402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VIRAR-SE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prisioneiro é solto e vê o fogo. A luz dói nos olhos.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600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212080" y="1828800"/>
            <a:ext cx="146304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663440" y="22402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SAIR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Sobe ao exterior e, aos poucos, vê as coisas e o sol.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1600200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665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2240280"/>
            <a:ext cx="1874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VOLTAR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 para contar. Os outros riem-se e não acreditam.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682496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LIGAÇÃO · 10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 PAREDES TEMOS HOJE?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77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270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FEED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que um algoritmo escolheu para ti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17720" y="1417320"/>
            <a:ext cx="3977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54880" y="152704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NOTÍCIA PARTILHADA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chega sem autor, sem data, sem contexto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977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71576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DA IA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 segura, mesmo quando inventa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606040"/>
            <a:ext cx="397764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2715768"/>
            <a:ext cx="37033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GRUPO DA TURMA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repete o que todos já pensam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Investigar é virar a cabeça: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perguntar de onde vem a luz que faz a sombra.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202996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 · PARIS, 2023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UMA CAVERNA NA ÓPERA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5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 À LA CAVERNE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 cobre os andaimes do Palais Garnier com uma gruta em trompe-l'œil (setembro a novembro de 2023).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6916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5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CHIROPTERA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de novembro de 2023: mais de 150 bailarinos dançam na fachada, na Place de l'Opéra. Coreografia de Damien Jalet.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691640"/>
            <a:ext cx="2560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00" b="1" spc="15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MÚSICA</a:t>
            </a:r>
            <a:endParaRPr lang="en-US" sz="1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Bangalter (ex-Daft Punk). Uma faixa de cerca de 17 minutos e uma versão de quase 6 horas.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98755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CHIROPTERA = MORCEGOS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572768"/>
            <a:ext cx="3703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MORCEGO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 na caverna e orienta-se no escuro pelo eco: emite um som e «ouve» a forma das coisas.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7764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72768"/>
            <a:ext cx="37033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PRISIONEIRO DE PLATÃO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Vive na caverna e só confia no que vê. Toma as sombras pela realidade.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obra mostra-nos a caverna ou põe-nos dentro dela? E que «eco» podemos usar para nos orientarmos no meio de tanta informação?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813816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813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OBJETO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291840"/>
          </a:xfrm>
          <a:prstGeom prst="rect">
            <a:avLst/>
          </a:prstGeom>
          <a:solidFill>
            <a:srgbClr val="0000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12801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078992"/>
            <a:ext cx="7726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Dois peixes jovens vão a nadar e cruzam-se com um peixe mais velho, que lhes acena e diz: «Bom dia, rapazes. Como está a água?» Os dois peixes nadam mais um bocado, até que um olha para o outro e pergunta: «Que raio é a água?»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b="1" spc="100" kern="0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FOSTER WALLACE, THIS IS WATER · KENYON COLLEGE, 21 DE MAIO DE 2005 · TRADUÇÃO LIVRE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900684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9006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IDEIA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MODO AUTOMÁTICO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17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2F6F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ÁGUA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060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aquilo que é tão constante que deixamos de ver.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Wallace chama-lhe «default setting»: a configuração de fábrica.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Nela, sou o centro do mundo: a fila, o trânsito e as outras pessoas existem para me atrasar.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 é escolher para onde olhar. A liberdade que conta, diz ele, faz-se de atenção, consciência e esforço, todos os dias.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595628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JUNTAR · 15 MIN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TRÊS IMAGENS, UMA PERGUNTA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06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5544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CAVERNA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Platão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Tomamos sombras por coisas.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46120" y="1417320"/>
            <a:ext cx="2606040" cy="2011680"/>
          </a:xfrm>
          <a:prstGeom prst="rect">
            <a:avLst/>
          </a:prstGeom>
          <a:solidFill>
            <a:srgbClr val="000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10712" y="15544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GRUTA NA ÓPERA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7FC4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 · Jalet · Bangalter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arte mostra a caverna a milhares de pessoas de uma vez.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417320"/>
            <a:ext cx="2606040" cy="2011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99632" y="155448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ÁGUA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Wallace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vemos aquilo em que vivemos.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grupo: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imagem fixa de 10 segundos que mostre a vossa «caverna» ou a vossa «água». A turma adivinha qual é.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289864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 · DIÁRIO DE INVESTIGAÇÃO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QUAL É A TUA ÁGUA?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coisa que fazes em modo automático e que hoje viste pela primeira vez.</a:t>
            </a:r>
            <a:endParaRPr lang="en-US" sz="18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informação que aceitaste esta semana sem verificar. Onde a podias confirmar?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50876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DESDOBRAMENTOS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DAQUI, PARA ONDE?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621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371600"/>
            <a:ext cx="2401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PLATÃO  →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55648"/>
            <a:ext cx="26212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65376"/>
            <a:ext cx="2401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Saramago, A Caverna (2000)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oleiro perde o trabalho para um centro comercial gigante, onde as obras descobrem uma gruta.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Truman Show (Peter Weir, 1998)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homem vive, sem saber, dentro de um programa de televisão.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61360" y="1371600"/>
            <a:ext cx="2621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71088" y="1371600"/>
            <a:ext cx="2401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CHIROPTERA  →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1360" y="1755648"/>
            <a:ext cx="26212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371088" y="1865376"/>
            <a:ext cx="2401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Remembering (Munique, 2009)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9 000 mochilas na fachada da Haus der Kunst formam a frase de uma mãe: «Ela viveu feliz durante sete anos neste mundo.»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Citizens' Investigation (2008–2011)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nomes oficiais, voluntários apuram os de 5 196 alunos mortos no sismo de Sichuan.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65520" y="1371600"/>
            <a:ext cx="26212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5248" y="1371600"/>
            <a:ext cx="2401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WALLACE  →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65520" y="1755648"/>
            <a:ext cx="26212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5248" y="1865376"/>
            <a:ext cx="240182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 Pariser, a bolha de filtro (2011)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água do século XXI: cada um vê o mundo que um algoritmo escolheu. Ponte para Cidadania II.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Rapture (Lisboa, 2021)</a:t>
            </a:r>
            <a:endParaRPr lang="en-US" sz="125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Cordoaria Nacional: obras sobre vigilância, refugiados e liberdade de expressão.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REFERÊNCIAS E LIGAÇÕES (1/2)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Platão, A República, livro VII, 514a–517a. Tradução de Maria Helena da Rocha Pereira, Fundação Calouste Gulbenkian.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Alegoria da caverna (Wikipédia)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pt.wikipedia.org/wiki/Alegoria_da_caverna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JR, Retour à la caverne, Acte II: CHIROPTERA (Palais Garnier, 2023)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jr-art.net/projects/chiroptera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Documentário «Dans la lumière», de Vincent Lorca, sobre CHIROPTERA (Resident Advisor)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ra.co/news/81822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Thomas Bangalter, CHIROPTERA: a música (MusicTech)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musictech.com/news/music/thomas-bangalter-new-track-chiroptera/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Foster Wallace, This is Water: transcrição e áudio do discurso (Farnam Street)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fs.blog/david-foster-wallace-this-is-water/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Water: contexto e publicação em livro, 2009 (Wikipédia)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en.wikipedia.org/wiki/This_Is_Water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"/>
          <p:cNvSpPr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REFERÊNCIAS E LIGAÇÕES (2/2)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Saramago, A Caverna, 2000.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Remembering, Haus der Kunst, Munique, 2009 (Britannica)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www.britannica.com/topic/Remembering-art-installation-by-Ai-Weiwei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 chineses procuram respostas sobre as mortes de alunos no sismo (NPR, 2009)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www.npr.org/2009/05/04/103727282/chinese-seek-answers-in-student-quake-deaths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Weiwei, Rapture, Cordoaria Nacional, Lisboa, 4 jun.–28 nov. 2021 (Lisson Gallery)</a:t>
            </a:r>
            <a:endParaRPr lang="en-US" sz="11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2F6F7A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lissongallery.com/news/rapture-a-major-exhibition-by-ai-weiwei-opens-at-cordoaria-nacional-in-lisbon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 Pariser, The Filter Bubble, 2011.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 Firme">
  <a:themeElements>
    <a:clrScheme name="Terra Firme">
      <a:dk1>
        <a:srgbClr val="000000"/>
      </a:dk1>
      <a:lt1>
        <a:srgbClr val="FFFFFF"/>
      </a:lt1>
      <a:dk2>
        <a:srgbClr val="1A1A1A"/>
      </a:dk2>
      <a:lt2>
        <a:srgbClr val="EDEFEF"/>
      </a:lt2>
      <a:accent1>
        <a:srgbClr val="2F6F7A"/>
      </a:accent1>
      <a:accent2>
        <a:srgbClr val="7FC4CF"/>
      </a:accent2>
      <a:accent3>
        <a:srgbClr val="595959"/>
      </a:accent3>
      <a:accent4>
        <a:srgbClr val="BFBFBF"/>
      </a:accent4>
      <a:accent5>
        <a:srgbClr val="000000"/>
      </a:accent5>
      <a:accent6>
        <a:srgbClr val="FFFFFF"/>
      </a:accent6>
      <a:hlink>
        <a:srgbClr val="2F6F7A"/>
      </a:hlink>
      <a:folHlink>
        <a:srgbClr val="595959"/>
      </a:folHlink>
    </a:clrScheme>
    <a:fontScheme name="Terra Firm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EPI - Escola Profissional de Imagem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Cidadania I · Aula 1 · O que vemos</dc:title>
  <dc:subject>PptxGenJS Presentation</dc:subject>
  <dc:creator>Pedro Fernandes</dc:creator>
  <cp:lastModifiedBy>Pedro Fernandes</cp:lastModifiedBy>
  <cp:revision>1</cp:revision>
  <dcterms:created xsi:type="dcterms:W3CDTF">2026-10-07T11:56:20Z</dcterms:created>
  <dcterms:modified xsi:type="dcterms:W3CDTF">2026-10-07T11:56:20Z</dcterms:modified>
</cp:coreProperties>
</file>